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ela Gothic One" panose="020B0604020202020204" charset="-128"/>
      <p:regular r:id="rId13"/>
    </p:embeddedFont>
    <p:embeddedFont>
      <p:font typeface="DM Sans" panose="020F0502020204030204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17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71811"/>
            <a:ext cx="10927878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Sistema de Inventario y Notificaciones — InvSuite Spring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2574131"/>
            <a:ext cx="10927878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Informe de Avance 2 (Curso Integrador I: Sistemas - Software)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1908" y="3070820"/>
            <a:ext cx="1092787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TechFin Perú S.A.C. — Proyecto desarrollado por estudiantes de la Universidad Tecnológica del Perú (UTP). Este informe presenta el progreso, decisiones técnicas, modelado y prototipo funcional que soportan la solución de control de inventarios con notificaciones automáticas. 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3753941"/>
            <a:ext cx="1018157" cy="6292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47506" y="3753941"/>
            <a:ext cx="2295368" cy="51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Miqueas Lancho Ramos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47506" y="4368205"/>
            <a:ext cx="2295368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Director de Proyecto — Coordinación, planificación y control de alcance.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315" y="3753941"/>
            <a:ext cx="1018157" cy="6292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55913" y="3753941"/>
            <a:ext cx="2295368" cy="51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Wilson D. Lázaro Rodríguez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555913" y="4368205"/>
            <a:ext cx="2295368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Desarrollo backend — Implementación de lógica de negocio y servicios.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721" y="3753941"/>
            <a:ext cx="1018157" cy="6292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64319" y="3753941"/>
            <a:ext cx="2295468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Orlando M. Malpartida Janampa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64319" y="4627959"/>
            <a:ext cx="2295468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y pruebas — Interfaces con Thymeleaf y pruebas de aceptación.</a:t>
            </a:r>
            <a:endParaRPr lang="en-US" sz="1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A2EA009-E696-692C-94DB-89BE13944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787" y="6229262"/>
            <a:ext cx="1705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080691"/>
            <a:ext cx="6355993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Contexto y Problemática de TechFin Perú S.A.C.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1908" y="2356842"/>
            <a:ext cx="6355993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TechFin opera como comercializadora de productos de cómputo en Lima. Actualmente usa procesos manuales (Excel y cuadernos) para registrar entradas y salidas, lo que genera discrepancias de stock, retrasos en reportes y dificultades para centralizar información de clientes y proveedores. 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31908" y="3545384"/>
            <a:ext cx="2013297" cy="2231827"/>
          </a:xfrm>
          <a:prstGeom prst="roundRect">
            <a:avLst>
              <a:gd name="adj" fmla="val 3296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808910" y="3722390"/>
            <a:ext cx="1659293" cy="51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Problema principal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8910" y="4336653"/>
            <a:ext cx="1659293" cy="126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manual con errores humanos frecuentes y falta de visibilidad en tiempo real del inventario.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03157" y="3545384"/>
            <a:ext cx="2013396" cy="2231827"/>
          </a:xfrm>
          <a:prstGeom prst="roundRect">
            <a:avLst>
              <a:gd name="adj" fmla="val 3295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2980159" y="3722390"/>
            <a:ext cx="1659392" cy="51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Impacto operativo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80159" y="4336653"/>
            <a:ext cx="1659392" cy="126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Quiebres de stock no anticipados, demoras en ventas y sobrecostos por reposición urgente.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74505" y="3545384"/>
            <a:ext cx="2013297" cy="2231827"/>
          </a:xfrm>
          <a:prstGeom prst="roundRect">
            <a:avLst>
              <a:gd name="adj" fmla="val 3296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5151507" y="3722390"/>
            <a:ext cx="1659293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Necesidad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51507" y="4076898"/>
            <a:ext cx="1659293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Centralizar y automatizar registro de movimientos, notificaciones y generación de reportes confiables.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456208"/>
            <a:ext cx="6355993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Modelo de Negocio — Lean Canvas (resumen)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31908" y="1457127"/>
            <a:ext cx="635599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InvSuite Spring propone un sistema web a medida que automatiza el control de inventario, envía notificaciones de stock mínimo y genera reportes exportables. El objetivo es mejorar la eficiencia interna, reducir errores y optimizar tiempos operativos con un presupuesto referencial de S/ 8,000.00. 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2132806"/>
            <a:ext cx="320865" cy="3208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908" y="2583954"/>
            <a:ext cx="6355993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Problemas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31908" y="2857500"/>
            <a:ext cx="6355993" cy="18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manual, quiebres de stock y errores en registros.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252192"/>
            <a:ext cx="320865" cy="3208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1908" y="3703340"/>
            <a:ext cx="6355993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31908" y="3976886"/>
            <a:ext cx="6355993" cy="18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 web centralizado con actualización automática de stock y notificaciones en tiempo real.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4371578"/>
            <a:ext cx="320865" cy="3208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1908" y="4822726"/>
            <a:ext cx="6355993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Propuesta de valor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31908" y="5096272"/>
            <a:ext cx="6355993" cy="18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Automatización y centralización que reduce errores y anticipa quiebres mediante alertas.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5490964"/>
            <a:ext cx="320865" cy="32087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1908" y="5942112"/>
            <a:ext cx="6355993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Usuarios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31908" y="6215658"/>
            <a:ext cx="6355993" cy="18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de inventario, ventas, administradores y gerencia.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727200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Evaluación de Alternativas Tecnológicas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2562721"/>
            <a:ext cx="1092787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 consideraron tres alternativas con enfoque en cumplir al menos 50% de tecnología Java. Los criterios incluyeron porcentaje de Java, mantenibilidad, productividad y costos operativos. 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3245842"/>
            <a:ext cx="772399" cy="965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1747" y="3245842"/>
            <a:ext cx="2541127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WebInvSys (Servlets + JSP + JDBC)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01747" y="4119860"/>
            <a:ext cx="254112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 ≈90%. Ventaja: bajo consumo de recursos. Desventaja: código repetitivo y baja mantenibilidad.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315" y="3245842"/>
            <a:ext cx="772399" cy="965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10154" y="3245842"/>
            <a:ext cx="2541127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InvSuite Spring (Spring Boot + Thymeleaf)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310154" y="4119860"/>
            <a:ext cx="2541127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 ≈85%. Alta productividad, seguridad con Spring Security y arquitectura en capas. (Alternativa elegida)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721" y="3245842"/>
            <a:ext cx="772399" cy="9654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8560" y="3245842"/>
            <a:ext cx="2541226" cy="51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InvenFaces (JSF + PrimeFaces)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018560" y="3860105"/>
            <a:ext cx="2541226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 ≈75%. Ventaja: componentes visuales ricos. Desventaja: ciclo de vida complejo y depuración más difícil.</a:t>
            </a:r>
            <a:endParaRPr lang="en-US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6E283F2-574B-7E25-CF5C-6AAEC2B40F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787" y="6229262"/>
            <a:ext cx="1705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908248"/>
            <a:ext cx="6355993" cy="1558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Alternativa Seleccionada: InvSuite Spring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1908" y="2704009"/>
            <a:ext cx="6355993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 seleccionó InvSuite Spring (Spring Boot + Spring Data JPA + Thymeleaf + Bootstrap) por su equilibrio entre productividad, seguridad y escalabilidad. Cumple el requisito de Java y facilita mantenimiento y extensiones futuras. 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31908" y="3639840"/>
            <a:ext cx="3099020" cy="2309912"/>
          </a:xfrm>
          <a:prstGeom prst="roundRect">
            <a:avLst>
              <a:gd name="adj" fmla="val 28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796211" y="3804146"/>
            <a:ext cx="2770416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Razones clave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6211" y="4158655"/>
            <a:ext cx="2770416" cy="1626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Controller-Service-Repository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Integración con Spring Security y BCrypt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 productividad y ecosistema maduro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88881" y="3639840"/>
            <a:ext cx="3099020" cy="2309912"/>
          </a:xfrm>
          <a:prstGeom prst="roundRect">
            <a:avLst>
              <a:gd name="adj" fmla="val 28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4053183" y="3804146"/>
            <a:ext cx="2770416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Beneficios operativos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53183" y="4158655"/>
            <a:ext cx="2770416" cy="137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Despliegue rápido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Mantenibilidad y pruebas más sencillas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Posibilidad de integrar servicios externos (facturación, API)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434380"/>
            <a:ext cx="6355993" cy="1461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Gestión del Proyecto — Project Charter y Cronograma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203794" y="2104132"/>
            <a:ext cx="6355993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proyecto cuenta con director asignado (Miqueas Lancho Ramos), presupuesto aprobado de S/ 8,000.00 y plazo de ejecución desde 22/08/2026 hasta 31/10/2026. A continuación se presenta el cronograma destacado con hitos principales. 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94" y="2949079"/>
            <a:ext cx="6355993" cy="28601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61273" y="3001027"/>
            <a:ext cx="1112264" cy="180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Analysis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61273" y="3230876"/>
            <a:ext cx="1112264" cy="399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Requirements gathering (29/08–04/09)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261315" y="5146161"/>
            <a:ext cx="1118375" cy="180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Design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261315" y="5376010"/>
            <a:ext cx="1118375" cy="399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Architectural &amp; UI designs (05/09–02/10)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349133" y="2889205"/>
            <a:ext cx="1112264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349133" y="3300012"/>
            <a:ext cx="1112264" cy="399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implementation (03/10–16/10)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449174" y="5212814"/>
            <a:ext cx="1112264" cy="180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Testing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449174" y="5442664"/>
            <a:ext cx="1112264" cy="266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 and validation (17/10–23/10)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203794" y="5965428"/>
            <a:ext cx="6355993" cy="45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diagrama sintetiza dependencias y ventanas de prueba. Se prioriza completar diseño antes del desarrollo para minimizar retrabajo.</a:t>
            </a:r>
            <a:endParaRPr lang="en-US" sz="11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B818F24-968C-F09E-069D-CDE594805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482" y="6195020"/>
            <a:ext cx="1705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788888"/>
            <a:ext cx="6355993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Arquitectura y Modelado de Procesos (BPMN)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03794" y="2065040"/>
            <a:ext cx="6355993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 modeló el proceso clave en dos carriles: Usuario y Sistema InvSuite. El flujo principal cubre inicio de sesión, registro de entradas/salidas, validación automática de stock y generación de notificaciones y reportes. 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94" y="3000871"/>
            <a:ext cx="6355993" cy="2385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39375" y="4704893"/>
            <a:ext cx="958673" cy="388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Export Report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131184" y="4802056"/>
            <a:ext cx="958673" cy="194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Notify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929559" y="4704893"/>
            <a:ext cx="958673" cy="388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Update Stock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727934" y="4802056"/>
            <a:ext cx="958673" cy="194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500044" y="4802056"/>
            <a:ext cx="958674" cy="194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Login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203794" y="5563691"/>
            <a:ext cx="635599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condición de alerta se representa como evaluación: StockActual ≤ StockMínimo → disparo de Notificación (RF-08) y registro para informes (RF-09).</a:t>
            </a:r>
            <a:endParaRPr lang="en-US" sz="12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C2C21C3-EDFD-4C30-2BB8-E176D10FF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441" y="6169032"/>
            <a:ext cx="1705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727200"/>
            <a:ext cx="10927878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Diseño Estático — Diagrama de Clases y Modelo E-R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3082330"/>
            <a:ext cx="1092787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dominio contempla las entidades core necesarias para las operaciones: Usuario/Rol, Producto/Categoría/Proveedor, Movimientos (Entrada/Salida), Notificación, Empresa y ReporteService. Las relaciones garantizan trazabilidad y consistencia en transacciones. 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3765451"/>
            <a:ext cx="772399" cy="965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1747" y="3765451"/>
            <a:ext cx="2541127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Producto — Catálogo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01747" y="4119959"/>
            <a:ext cx="2541127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 ligado a Categoría y Proveedor; atributos clave: stockActual, stockMinimo, precio, código.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315" y="3765451"/>
            <a:ext cx="772399" cy="965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10154" y="3765451"/>
            <a:ext cx="2541127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Usuario &amp; Rol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310154" y="4119959"/>
            <a:ext cx="2541127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de acceso basado en roles (inventario, ventas, admin); contraseñas encriptadas con BCrypt.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721" y="3765451"/>
            <a:ext cx="772399" cy="9654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8560" y="3765451"/>
            <a:ext cx="2541226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Notificación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018560" y="4119959"/>
            <a:ext cx="2541226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Entidad relacional que se dispara cuando stockActual ≤ stockMinimo; persistencia y visualización en dashboard.</a:t>
            </a:r>
            <a:endParaRPr lang="en-US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417B3A4-15F9-C057-6F0C-D2DAB6C08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9242" y="6202544"/>
            <a:ext cx="1705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457299"/>
            <a:ext cx="6355993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Prototipo y Cobertura de Requerimientos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1908" y="1593652"/>
            <a:ext cx="6355993" cy="436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prototipo funcional implementa el 100% del alcance definido según IEEE 830. A continuación se detalla la cobertura por módulos y requisitos funcionales implementados y probados. 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2176165"/>
            <a:ext cx="2032148" cy="26102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2061" y="2283520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94028" y="2748756"/>
            <a:ext cx="1707909" cy="70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Seguridad y Login (RF-01, RF-11)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94028" y="3532882"/>
            <a:ext cx="1707909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Autenticación, autorización por roles y encriptación BCrypt.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732" y="2176165"/>
            <a:ext cx="2032247" cy="26102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23884" y="2283520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955851" y="2748756"/>
            <a:ext cx="1708008" cy="70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Mantenimientos CRUD (RF-02–RF-05)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2955851" y="3532882"/>
            <a:ext cx="1708008" cy="1091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Gestión de Categorías, Proveedores, Clientes y Productos con validaciones y auditoría mínima.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5654" y="2176165"/>
            <a:ext cx="2032148" cy="26102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85807" y="2283520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17774" y="2748756"/>
            <a:ext cx="1707909" cy="70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Movimientos (RF-06, RF-07)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5117774" y="3532882"/>
            <a:ext cx="1707909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Registro de entradas y salidas con verificación de stock y control de transacciones.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4916091"/>
            <a:ext cx="6355893" cy="14845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23884" y="5023445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794028" y="5488682"/>
            <a:ext cx="603165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Notificaciones y Reportes (RF-08, RF-09)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94028" y="5801916"/>
            <a:ext cx="6031655" cy="436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Alarmas en pantalla para stock crítico y exportación de reportes a PDF con OpenHTMLToPDF.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499963"/>
            <a:ext cx="6355993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Conclusiones y Recomendaciones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31908" y="1500882"/>
            <a:ext cx="635599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diseño y prototipo de InvSuite Spring cubren el alcance definido y se alinean con estándares (IEEE 830, MVC). La elección tecnológica favorece seguridad, escalabilidad y mantenibilidad. El prototipo funcional y el código cumplen los módulos previstos dentro del presupuesto y cronograma. 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31908" y="2176562"/>
            <a:ext cx="513345" cy="902395"/>
          </a:xfrm>
          <a:prstGeom prst="roundRect">
            <a:avLst>
              <a:gd name="adj" fmla="val 5000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341" y="2531467"/>
            <a:ext cx="192480" cy="192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9530" y="2304852"/>
            <a:ext cx="5738371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Capacitación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249530" y="2578398"/>
            <a:ext cx="5738371" cy="372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Realizar sesiones de capacitación para el personal operativo antes del despliegue en producción.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31908" y="3183235"/>
            <a:ext cx="513345" cy="902395"/>
          </a:xfrm>
          <a:prstGeom prst="roundRect">
            <a:avLst>
              <a:gd name="adj" fmla="val 5000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341" y="3538141"/>
            <a:ext cx="192480" cy="1924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9530" y="3311525"/>
            <a:ext cx="5738371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Respaldos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249530" y="3585071"/>
            <a:ext cx="5738371" cy="372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Implementar copias de seguridad periódicas de la base de datos MySQL y pruebas de restauración.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31908" y="4189909"/>
            <a:ext cx="513345" cy="902395"/>
          </a:xfrm>
          <a:prstGeom prst="roundRect">
            <a:avLst>
              <a:gd name="adj" fmla="val 5000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341" y="4544814"/>
            <a:ext cx="192480" cy="1924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9530" y="4318198"/>
            <a:ext cx="5738371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Fase 2 — Integración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249530" y="4591745"/>
            <a:ext cx="5738371" cy="372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Planificar integración con comprobantes de pago y facturación electrónica como siguiente etapa prioritaria.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31908" y="5196582"/>
            <a:ext cx="513345" cy="1161355"/>
          </a:xfrm>
          <a:prstGeom prst="roundRect">
            <a:avLst>
              <a:gd name="adj" fmla="val 5000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341" y="5680968"/>
            <a:ext cx="192480" cy="1924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49530" y="5324872"/>
            <a:ext cx="5738371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Siguientes pasos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249530" y="5598418"/>
            <a:ext cx="5738371" cy="63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Pruebas de aceptación con usuarios clave.</a:t>
            </a:r>
            <a:endParaRPr lang="en-US" sz="1000" dirty="0"/>
          </a:p>
          <a:p>
            <a:pPr marL="203200" indent="-2032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Documentación operativa y manual de usuario.</a:t>
            </a:r>
            <a:endParaRPr lang="en-US" sz="1000" dirty="0"/>
          </a:p>
          <a:p>
            <a:pPr marL="203200" indent="-2032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de despliegue y monitoreo post-producción.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1075</Words>
  <Application>Microsoft Office PowerPoint</Application>
  <PresentationFormat>Panorámica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Dela Gothic One</vt:lpstr>
      <vt:lpstr>DM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ALUMNO - WILSON DANIEL LAZARO RODRIGUEZ</cp:lastModifiedBy>
  <cp:revision>2</cp:revision>
  <dcterms:created xsi:type="dcterms:W3CDTF">2026-09-28T15:25:02Z</dcterms:created>
  <dcterms:modified xsi:type="dcterms:W3CDTF">2026-09-28T15:28:04Z</dcterms:modified>
</cp:coreProperties>
</file>